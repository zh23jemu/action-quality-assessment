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论文记录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本次复现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论文/记录</c:v>
                </c:pt>
              </c:strCache>
            </c:strRef>
          </c:tx>
          <c:spPr>
            <a:solidFill>
              <a:srgbClr val="265DAA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Motion SRC</c:v>
                </c:pt>
                <c:pt idx="1">
                  <c:v>Pose F1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0.77629999999999999</c:v>
                </c:pt>
                <c:pt idx="1">
                  <c:v>0.77629999999999999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A4B-43A9-989C-3E709D54E2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本次复现</c:v>
                </c:pt>
              </c:strCache>
            </c:strRef>
          </c:tx>
          <c:spPr>
            <a:solidFill>
              <a:srgbClr val="008E96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Motion SRC</c:v>
                </c:pt>
                <c:pt idx="1">
                  <c:v>Pose F1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0.7661</c:v>
                </c:pt>
                <c:pt idx="1">
                  <c:v>0.4052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A4B-43A9-989C-3E709D54E2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>
              <a:latin typeface="微软雅黑" panose="020B0503020204020204" pitchFamily="34" charset="-122"/>
              <a:ea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8046720" y="0"/>
            <a:ext cx="4206240" cy="6858000"/>
          </a:xfrm>
          <a:prstGeom prst="rtTriangle">
            <a:avLst/>
          </a:prstGeom>
          <a:solidFill>
            <a:srgbClr val="144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955279" cy="658368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MTL-AQA 上的动作质量评估复现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00200"/>
            <a:ext cx="7498079" cy="384048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BCE1E6"/>
                </a:solidFill>
                <a:latin typeface="Microsoft YaHei"/>
              </a:rPr>
              <a:t>Motion Disentangling × Pose Contrastive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69494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E6F1F6"/>
                </a:solidFill>
                <a:latin typeface="Microsoft YaHei"/>
              </a:rPr>
              <a:t>从数据下载、抽帧、特征生成，到训练、测试指标与单样本推理的端到端工程闭环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78807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数据规模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4" y="4417744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8B2BE"/>
                </a:solidFill>
                <a:latin typeface="Microsoft YaHei"/>
              </a:rPr>
              <a:t>1412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4" y="4957240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5B6778"/>
                </a:solidFill>
                <a:latin typeface="Microsoft YaHei"/>
              </a:rPr>
              <a:t>1059 train / 353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3977639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4178807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Motion SRC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4422118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209760"/>
                </a:solidFill>
                <a:latin typeface="Microsoft YaHei"/>
              </a:rPr>
              <a:t>0.7661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4961614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5B6778"/>
                </a:solidFill>
                <a:latin typeface="Microsoft YaHei"/>
              </a:rPr>
              <a:t>R-L2 = 0.1683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6752" y="3977639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5352" y="4178807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Pose mean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3347" y="4434839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EE8436"/>
                </a:solidFill>
                <a:latin typeface="Microsoft YaHei"/>
              </a:rPr>
              <a:t>0.4052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7" y="4974335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5B6778"/>
                </a:solidFill>
                <a:latin typeface="Microsoft YaHei"/>
              </a:rPr>
              <a:t>5 </a:t>
            </a:r>
            <a:r>
              <a:rPr sz="1200" b="0" dirty="0" err="1">
                <a:solidFill>
                  <a:srgbClr val="5B6778"/>
                </a:solidFill>
                <a:latin typeface="Microsoft YaHei"/>
              </a:rPr>
              <a:t>类动作属性</a:t>
            </a:r>
            <a:endParaRPr sz="1200" b="0" dirty="0">
              <a:solidFill>
                <a:srgbClr val="5B6778"/>
              </a:solidFill>
              <a:latin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6080760"/>
            <a:ext cx="4114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 dirty="0">
                <a:solidFill>
                  <a:srgbClr val="BCE1E6"/>
                </a:solidFill>
                <a:latin typeface="Microsoft YaHei"/>
              </a:rPr>
              <a:t>第 </a:t>
            </a:r>
            <a:r>
              <a:rPr lang="en-US" altLang="zh-CN" sz="1500" b="0" dirty="0">
                <a:solidFill>
                  <a:srgbClr val="BCE1E6"/>
                </a:solidFill>
                <a:latin typeface="Microsoft YaHei"/>
              </a:rPr>
              <a:t>xx</a:t>
            </a:r>
            <a:r>
              <a:rPr sz="1500" b="0" dirty="0">
                <a:solidFill>
                  <a:srgbClr val="BCE1E6"/>
                </a:solidFill>
                <a:latin typeface="Microsoft YaHei"/>
              </a:rPr>
              <a:t> 组 | </a:t>
            </a:r>
            <a:r>
              <a:rPr sz="1500" b="0" dirty="0" err="1">
                <a:solidFill>
                  <a:srgbClr val="BCE1E6"/>
                </a:solidFill>
                <a:latin typeface="Microsoft YaHei"/>
              </a:rPr>
              <a:t>课程实践汇报</a:t>
            </a:r>
            <a:endParaRPr sz="1500" b="0" dirty="0">
              <a:solidFill>
                <a:srgbClr val="BCE1E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01 任务目标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lang="zh-CN" altLang="en-US" sz="3400" b="1" dirty="0">
                <a:solidFill>
                  <a:srgbClr val="1226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sz="3400" b="1" dirty="0" err="1">
                <a:solidFill>
                  <a:srgbClr val="1226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需求拆解：两个模型、一个数据集、三类结果</a:t>
            </a:r>
            <a:endParaRPr sz="3400" b="1" dirty="0">
              <a:solidFill>
                <a:srgbClr val="1226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97180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指定数据集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04872"/>
            <a:ext cx="2971800" cy="2560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MTL-AQA 跳水动作质量评估数据集
15 个完整比赛视频中标注出 1412 个有效跳水片段。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297180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两个模型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04872"/>
            <a:ext cx="2971800" cy="2560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Motion Disentangling：质量分数回归
Pose Contrastive：跳水动作属性分类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965960"/>
            <a:ext cx="297180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要求指标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04872"/>
            <a:ext cx="2971800" cy="2560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Motion 输出 SRC 与 R-L2
Pose 输出 F1 Score
另需单样本推理与问题记录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02 实验环境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 dirty="0">
                <a:solidFill>
                  <a:srgbClr val="12264A"/>
                </a:solidFill>
                <a:latin typeface="Microsoft YaHei"/>
              </a:rPr>
              <a:t>在 </a:t>
            </a:r>
            <a:r>
              <a:rPr lang="en-US" altLang="zh-CN" sz="3400" b="1" dirty="0">
                <a:solidFill>
                  <a:srgbClr val="12264A"/>
                </a:solidFill>
                <a:latin typeface="Microsoft YaHei"/>
              </a:rPr>
              <a:t>Linux</a:t>
            </a:r>
            <a:r>
              <a:rPr sz="3400" b="1" dirty="0">
                <a:solidFill>
                  <a:srgbClr val="12264A"/>
                </a:solidFill>
                <a:latin typeface="Microsoft YaHei"/>
              </a:rPr>
              <a:t> GPU </a:t>
            </a:r>
            <a:r>
              <a:rPr sz="3400" b="1" dirty="0" err="1">
                <a:solidFill>
                  <a:srgbClr val="12264A"/>
                </a:solidFill>
                <a:latin typeface="Microsoft YaHei"/>
              </a:rPr>
              <a:t>节点完成真实训练和复验</a:t>
            </a:r>
            <a:endParaRPr sz="3400" b="1" dirty="0">
              <a:solidFill>
                <a:srgbClr val="12264A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 dirty="0">
                <a:solidFill>
                  <a:srgbClr val="5B6778"/>
                </a:solidFill>
                <a:latin typeface="Microsoft YaHei"/>
              </a:rPr>
              <a:t>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828800" cy="530352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265DAA"/>
                </a:solidFill>
                <a:latin typeface="Microsoft YaHei"/>
              </a:rPr>
              <a:t>NVIDIA L40S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71215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en-US" altLang="zh-CN" sz="1200" dirty="0" err="1">
                <a:solidFill>
                  <a:srgbClr val="5B6778"/>
                </a:solidFill>
                <a:latin typeface="Microsoft YaHei"/>
              </a:rPr>
              <a:t>Linux</a:t>
            </a:r>
            <a:r>
              <a:rPr sz="1200" b="0" dirty="0" err="1">
                <a:solidFill>
                  <a:srgbClr val="5B6778"/>
                </a:solidFill>
                <a:latin typeface="Microsoft YaHei"/>
              </a:rPr>
              <a:t>计算节点</a:t>
            </a:r>
            <a:endParaRPr sz="1200" b="0" dirty="0">
              <a:solidFill>
                <a:srgbClr val="5B6778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46120" y="173736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938528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CUDA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1828800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08E96"/>
                </a:solidFill>
                <a:latin typeface="Microsoft YaHei"/>
              </a:rPr>
              <a:t>12.6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71215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torch CUDA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73736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938528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331720"/>
            <a:ext cx="1828800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09760"/>
                </a:solidFill>
                <a:latin typeface="Microsoft YaHei"/>
              </a:rPr>
              <a:t>2.12.0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71215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+cu126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938528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调度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1828800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lang="en-US" altLang="zh-CN" sz="3200" b="1" dirty="0">
                <a:solidFill>
                  <a:srgbClr val="EE8436"/>
                </a:solidFill>
                <a:latin typeface="Microsoft YaHei"/>
              </a:rPr>
              <a:t>Linux</a:t>
            </a:r>
            <a:endParaRPr sz="3200" b="1" dirty="0">
              <a:solidFill>
                <a:srgbClr val="EE8436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2871215"/>
            <a:ext cx="1828800" cy="320040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>
              <a:lnSpc>
                <a:spcPct val="105000"/>
              </a:lnSpc>
            </a:pPr>
            <a:r>
              <a:rPr lang="en-US" sz="1200" dirty="0">
                <a:solidFill>
                  <a:srgbClr val="5B6778"/>
                </a:solidFill>
                <a:latin typeface="Microsoft YaHei"/>
              </a:rPr>
              <a:t>Rocky Linux release 8.7</a:t>
            </a:r>
            <a:endParaRPr sz="1200" b="0" dirty="0">
              <a:solidFill>
                <a:srgbClr val="5B6778"/>
              </a:solidFill>
              <a:latin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429000"/>
            <a:ext cx="484632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环境验证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867911"/>
            <a:ext cx="484632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服务器上 `torch.cuda.is_available()` 为 True，GPU 识别为 NVIDIA L40S。
训练和 eval 均记录了相同的 CUDA / GPU 环境摘要。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46120"/>
            <a:ext cx="4937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429000"/>
            <a:ext cx="4480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工程约定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867911"/>
            <a:ext cx="448056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 dirty="0" err="1">
                <a:solidFill>
                  <a:srgbClr val="1C2430"/>
                </a:solidFill>
                <a:latin typeface="Microsoft YaHei"/>
              </a:rPr>
              <a:t>所有</a:t>
            </a:r>
            <a:r>
              <a:rPr sz="1500" b="0" dirty="0">
                <a:solidFill>
                  <a:srgbClr val="1C2430"/>
                </a:solidFill>
                <a:latin typeface="Microsoft YaHei"/>
              </a:rPr>
              <a:t> Python </a:t>
            </a:r>
            <a:r>
              <a:rPr sz="1500" b="0" dirty="0" err="1">
                <a:solidFill>
                  <a:srgbClr val="1C2430"/>
                </a:solidFill>
                <a:latin typeface="Microsoft YaHei"/>
              </a:rPr>
              <a:t>入口使用项目</a:t>
            </a:r>
            <a:r>
              <a:rPr sz="1500" b="0" dirty="0">
                <a:solidFill>
                  <a:srgbClr val="1C2430"/>
                </a:solidFill>
                <a:latin typeface="Microsoft YaHei"/>
              </a:rPr>
              <a:t> `.</a:t>
            </a:r>
            <a:r>
              <a:rPr sz="1500" b="0" dirty="0" err="1">
                <a:solidFill>
                  <a:srgbClr val="1C2430"/>
                </a:solidFill>
                <a:latin typeface="Microsoft YaHei"/>
              </a:rPr>
              <a:t>venv</a:t>
            </a:r>
            <a:r>
              <a:rPr sz="1500" b="0" dirty="0">
                <a:solidFill>
                  <a:srgbClr val="1C2430"/>
                </a:solidFill>
                <a:latin typeface="Microsoft YaHei"/>
              </a:rPr>
              <a:t>`。
</a:t>
            </a:r>
            <a:r>
              <a:rPr sz="1500" b="0" dirty="0" err="1">
                <a:solidFill>
                  <a:srgbClr val="1C2430"/>
                </a:solidFill>
                <a:latin typeface="Microsoft YaHei"/>
              </a:rPr>
              <a:t>长时间训练通过</a:t>
            </a:r>
            <a:r>
              <a:rPr sz="1500" b="0" dirty="0">
                <a:solidFill>
                  <a:srgbClr val="1C2430"/>
                </a:solidFill>
                <a:latin typeface="Microsoft YaHei"/>
              </a:rPr>
              <a:t> </a:t>
            </a:r>
            <a:r>
              <a:rPr lang="en-US" sz="1500" b="0" dirty="0">
                <a:solidFill>
                  <a:srgbClr val="1C2430"/>
                </a:solidFill>
                <a:latin typeface="Microsoft YaHei"/>
              </a:rPr>
              <a:t>python</a:t>
            </a:r>
            <a:r>
              <a:rPr sz="1500" b="0" dirty="0">
                <a:solidFill>
                  <a:srgbClr val="1C2430"/>
                </a:solidFill>
                <a:latin typeface="Microsoft YaHei"/>
              </a:rPr>
              <a:t> </a:t>
            </a:r>
            <a:r>
              <a:rPr sz="1500" b="0" dirty="0" err="1">
                <a:solidFill>
                  <a:srgbClr val="1C2430"/>
                </a:solidFill>
                <a:latin typeface="Microsoft YaHei"/>
              </a:rPr>
              <a:t>脚本提交；日志、指标、checkpoint、预测结果统一保存到</a:t>
            </a:r>
            <a:r>
              <a:rPr sz="1500" b="0" dirty="0">
                <a:solidFill>
                  <a:srgbClr val="1C2430"/>
                </a:solidFill>
                <a:latin typeface="Microsoft YaHei"/>
              </a:rPr>
              <a:t> `outputs/`。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03 数据预处理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不是训练 15 条长视频，而是训练官方标注的动作片段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完整视频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783080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65DAA"/>
                </a:solidFill>
                <a:latin typeface="Microsoft YaHei"/>
              </a:rPr>
              <a:t>15 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34056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YouTube / RTIS 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60020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801368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有效片段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1783080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08E96"/>
                </a:solidFill>
                <a:latin typeface="Microsoft YaHei"/>
              </a:rPr>
              <a:t>1412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34056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官方 start/end 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160020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训练集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194560"/>
            <a:ext cx="1783080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09760"/>
                </a:solidFill>
                <a:latin typeface="Microsoft YaHei"/>
              </a:rPr>
              <a:t>1059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34056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split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801368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测试集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1783080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E8436"/>
                </a:solidFill>
                <a:latin typeface="Microsoft YaHei"/>
              </a:rPr>
              <a:t>353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34056"/>
            <a:ext cx="1783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split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1783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886200"/>
            <a:ext cx="132588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下载视频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25112"/>
            <a:ext cx="1325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15 个长视频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377440" y="4050791"/>
            <a:ext cx="411480" cy="256032"/>
          </a:xfrm>
          <a:prstGeom prst="rightArrow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26080" y="3703320"/>
            <a:ext cx="1783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80" y="3886200"/>
            <a:ext cx="132588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全量抽帧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325112"/>
            <a:ext cx="1325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建立帧库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617720" y="4050791"/>
            <a:ext cx="411480" cy="256032"/>
          </a:xfrm>
          <a:prstGeom prst="rightArrow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66360" y="3703320"/>
            <a:ext cx="1783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0" y="3886200"/>
            <a:ext cx="132588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读取标注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325112"/>
            <a:ext cx="1325880" cy="36576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start_frame/end_frame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58000" y="4050791"/>
            <a:ext cx="411480" cy="256032"/>
          </a:xfrm>
          <a:prstGeom prst="rightArrow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406640" y="3703320"/>
            <a:ext cx="1783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886200"/>
            <a:ext cx="132588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片段采样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325112"/>
            <a:ext cx="1325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只取有效动作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098280" y="4050791"/>
            <a:ext cx="411480" cy="256032"/>
          </a:xfrm>
          <a:prstGeom prst="rightArrow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46920" y="3703320"/>
            <a:ext cx="1783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0" y="3886200"/>
            <a:ext cx="132588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生成特征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325112"/>
            <a:ext cx="1325880" cy="36576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128 维帧统计特征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2264A"/>
                </a:solidFill>
                <a:latin typeface="Microsoft YaHei"/>
              </a:rPr>
              <a:t>关键回答：视频虽然 1-2 小时，但模型只看到官方标注出的跳水动作片段帧，不使用等待、回放、裁判和转场等无关画面。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04 模型与适配实现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官方仓库不完整，因此补齐可运行工程链路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51663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47091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Motion Disentangling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21992"/>
            <a:ext cx="470916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目标：预测动作质量分数
输入：片段级视频特征
训练：回归损失
指标：SRC 衡量排序一致性，R-L2 衡量相对误差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1663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7091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Pose Contrastive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21992"/>
            <a:ext cx="470916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目标：学习动作属性表征
输入：片段级视频特征
训练：多属性分类 / 表征适配
指标：position、armstand、rotation_type、somersaults、twists 的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231958"/>
            <a:ext cx="10241280" cy="59436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5000"/>
              </a:lnSpc>
            </a:pPr>
            <a:r>
              <a:rPr sz="1700" b="1" dirty="0" err="1">
                <a:solidFill>
                  <a:srgbClr val="CF4B4B"/>
                </a:solidFill>
                <a:latin typeface="Microsoft YaHei"/>
              </a:rPr>
              <a:t>说明：公开</a:t>
            </a:r>
            <a:r>
              <a:rPr sz="1700" b="1" dirty="0">
                <a:solidFill>
                  <a:srgbClr val="CF4B4B"/>
                </a:solidFill>
                <a:latin typeface="Microsoft YaHei"/>
              </a:rPr>
              <a:t> GitHub </a:t>
            </a:r>
            <a:r>
              <a:rPr sz="1700" b="1" dirty="0" err="1">
                <a:solidFill>
                  <a:srgbClr val="CF4B4B"/>
                </a:solidFill>
                <a:latin typeface="Microsoft YaHei"/>
              </a:rPr>
              <a:t>仓库无法原封不动跑出</a:t>
            </a:r>
            <a:r>
              <a:rPr sz="1700" b="1" dirty="0">
                <a:solidFill>
                  <a:srgbClr val="CF4B4B"/>
                </a:solidFill>
                <a:latin typeface="Microsoft YaHei"/>
              </a:rPr>
              <a:t> MTL-AQA </a:t>
            </a:r>
            <a:r>
              <a:rPr sz="1700" b="1" dirty="0" err="1">
                <a:solidFill>
                  <a:srgbClr val="CF4B4B"/>
                </a:solidFill>
                <a:latin typeface="Microsoft YaHei"/>
              </a:rPr>
              <a:t>上的完整训练测试；本项目根据论文思路补齐数据加载、特征、训练、评估和推理入口</a:t>
            </a:r>
            <a:r>
              <a:rPr sz="1700" b="1" dirty="0">
                <a:solidFill>
                  <a:srgbClr val="CF4B4B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05 工程闭环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从数据到结果的统一入口已经补齐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10407"/>
              </p:ext>
            </p:extLst>
          </p:nvPr>
        </p:nvGraphicFramePr>
        <p:xfrm>
          <a:off x="658368" y="1572768"/>
          <a:ext cx="10881360" cy="3762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入口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数据整理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scripts/prepare_data.py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生成 manifest，校验 split / 标签 / 帧路径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特征抽取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scripts/extract_features.py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从有效动作片段采样帧，输出 feature_path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Motion 训练/测试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train_motion.py / eval_motion.py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输出 SRC、R-L2 与 checkpoint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Pose 训练/测试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train_pose.py / eval_pose.py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输出各属性 F1 与 mean F1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单样本推理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scripts/infer_single.py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输出分数或动作属性预测</a:t>
                      </a:r>
                      <a:r>
                        <a:rPr dirty="0"/>
                        <a:t>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06 关键问题与修复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lang="zh-CN" altLang="en-US" sz="3400" b="1" dirty="0">
                <a:solidFill>
                  <a:srgbClr val="1226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遇到的</a:t>
            </a:r>
            <a:r>
              <a:rPr sz="3400" b="1" dirty="0" err="1">
                <a:solidFill>
                  <a:srgbClr val="1226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400" b="1" dirty="0">
                <a:solidFill>
                  <a:srgbClr val="1226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和解决方案</a:t>
            </a:r>
            <a:endParaRPr sz="3400" b="1" dirty="0">
              <a:solidFill>
                <a:srgbClr val="1226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81328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现象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数据下载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YouTube 网络与 Cookie 风控，服务器直连和代理均不稳定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本地代理下载后通过 GitHub Release 同步到服务器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视频解码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03/06/18 为 AV1 编码，集群 ffmpeg 无法软解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安装 imageio-ffmpeg，使用带 libdav1d 的新版 ffmpeg 补抽帧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特征缺失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初次特征抽取 feature_ready=1207，missing=205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补抽 03/06/18 后 feature_ready=1412，missing=0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路径解析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feature_path 被拼成 data/processed/data/processed/...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修复 resolve_path，兼容项目根目录与 manifest 目录两种相对路径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参数口径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eval 脚本原先只支持 --metrics，不支持 --output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增加 --output 作为 --metrics 别名，命令更统一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144768"/>
            <a:ext cx="103327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264A"/>
                </a:solidFill>
                <a:latin typeface="Microsoft YaHei"/>
              </a:rPr>
              <a:t>价值：这些不是“失败”，而是工程复现过程中真实遇到并解决的兼容性和数据链路问题。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07 Motion Disentangling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测试集 353 个片段，独立 eval 与训练期最佳指标一致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SRC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09760"/>
                </a:solidFill>
                <a:latin typeface="Microsoft YaHei"/>
              </a:rPr>
              <a:t>0.7661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Spearman 排序相关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08760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0992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R-L2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E8436"/>
                </a:solidFill>
                <a:latin typeface="Microsoft YaHei"/>
              </a:rPr>
              <a:t>0.1683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42615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相对 L2 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508760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70992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Best epoch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0312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65DAA"/>
                </a:solidFill>
                <a:latin typeface="Microsoft YaHe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42615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checkpoint 可复验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508760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170992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Test clips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0312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08E96"/>
                </a:solidFill>
                <a:latin typeface="Microsoft YaHei"/>
              </a:rPr>
              <a:t>353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42615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MTL-AQA split 0</a:t>
            </a:r>
          </a:p>
        </p:txBody>
      </p:sp>
      <p:pic>
        <p:nvPicPr>
          <p:cNvPr id="22" name="Picture 21" descr="mo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10881360" cy="2834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08 Pose Contrastive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输出跳水动作属性 F1，平均 F1 作为综合指标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Mean F1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09760"/>
                </a:solidFill>
                <a:latin typeface="Microsoft YaHei"/>
              </a:rPr>
              <a:t>0.4052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6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5 个属性平均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61848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Best epoch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265DAA"/>
                </a:solidFill>
                <a:latin typeface="Microsoft YaHe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51176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checkpoint 可复验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41732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61848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Test clips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1168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08E96"/>
                </a:solidFill>
                <a:latin typeface="Microsoft YaHei"/>
              </a:rPr>
              <a:t>353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51176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MTL-AQA split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1732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1618488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B6778"/>
                </a:solidFill>
                <a:latin typeface="Microsoft YaHei"/>
              </a:rPr>
              <a:t>属性数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011680"/>
            <a:ext cx="1874519" cy="53035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E8436"/>
                </a:solidFill>
                <a:latin typeface="Microsoft YaHei"/>
              </a:rPr>
              <a:t>5 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551176"/>
            <a:ext cx="187451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position / twists 等</a:t>
            </a:r>
          </a:p>
        </p:txBody>
      </p:sp>
      <p:pic>
        <p:nvPicPr>
          <p:cNvPr id="22" name="Picture 21" descr="pos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5212080" cy="2331720"/>
          </a:xfrm>
          <a:prstGeom prst="rect">
            <a:avLst/>
          </a:prstGeom>
        </p:spPr>
      </p:pic>
      <p:pic>
        <p:nvPicPr>
          <p:cNvPr id="23" name="Picture 22" descr="pose_f1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788920"/>
            <a:ext cx="5120640" cy="2423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09 独立测试验证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训练后 checkpoint 单独 eval，指标完全对齐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356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主指标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辅助信息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训练期最佳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SRC 0.7661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R-L2 0.1683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epoch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Motion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独立 eval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SRC 0.7661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R-L2 0.1683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353 clips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训练期最佳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mean F1 0.4052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属性 F1 全量输出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epoch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Pose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独立 eval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mean F1 0.4052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属性 F1 全量输出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353 clips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34340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4480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65192"/>
            <a:ext cx="4480560" cy="45720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checkpoint 可独立复验，不依赖训练过程中的临时状态。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34340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4480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结果文件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965192"/>
            <a:ext cx="4480560" cy="45720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motion_eval_real.json
pose_eval_real.json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10 单样本推理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用测试样本 01_0001 展示模型可部署入口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Motion 单样本输出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663440" cy="1965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sample_id: 01_0001
真实分数: 88.0
预测分数: 65.9733
checkpoint: motion_best.pt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Pose 单样本输出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67712"/>
            <a:ext cx="4663440" cy="196596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sample_id: 01_0001
position: 2
armstand: 0
rotation_type: 2
somersaults: 7
twists: 0
checkpoint: pose_best.pt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149840" cy="4389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2264A"/>
                </a:solidFill>
                <a:latin typeface="Microsoft YaHei"/>
              </a:rPr>
              <a:t>用途：这页可以配合终端截图，证明训练后的权重能够被独立加载并完成真实样本推理。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37760" cy="29260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11 与“完整官方复现”的差距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2264A"/>
                </a:solidFill>
                <a:latin typeface="Microsoft YaHei"/>
              </a:rPr>
              <a:t>公开仓库支撑可运行适配复现，但不支撑原封不动复现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8803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公开仓库缺口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21992"/>
            <a:ext cx="2880360" cy="24688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MTL-AQA 仓库主要给数据和标注。
Fitness-AQA 仓库不包含可直接迁移到 MTL-AQA 的完整训练工程。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8803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特征链路差异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21992"/>
            <a:ext cx="2880360" cy="24688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论文级复现通常需要官方 C3D/I3D/pose 特征、预训练权重和完整配置。
当前使用真实抽帧后的轻量帧统计特征。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28803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当前定位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21992"/>
            <a:ext cx="2880360" cy="24688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C2430"/>
                </a:solidFill>
                <a:latin typeface="Microsoft YaHei"/>
              </a:rPr>
              <a:t>端到端可运行：数据、训练、测试、checkpoint、推理全部闭环。
对外表述为“可运行适配复现”。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332720" cy="50292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F4B4B"/>
                </a:solidFill>
                <a:latin typeface="Microsoft YaHei"/>
              </a:rPr>
              <a:t>建议口径：能跑通流程、能输出指标、能复验结果；若要求官方原始特征和源码级复现，需要作者提供更完整工程与实验配置。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28C9B"/>
                </a:solidFill>
                <a:latin typeface="Microsoft YaHei"/>
              </a:rPr>
              <a:t>MTL-AQA × Fitness-AQA 适配复现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8E96"/>
                </a:solidFill>
                <a:latin typeface="Microsoft YaHei"/>
              </a:rPr>
              <a:t>12 论文结果对比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5955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dirty="0" err="1">
                <a:solidFill>
                  <a:srgbClr val="12264A"/>
                </a:solidFill>
                <a:latin typeface="Microsoft YaHei"/>
              </a:rPr>
              <a:t>与论文</a:t>
            </a:r>
            <a:r>
              <a:rPr sz="3200" b="1" dirty="0">
                <a:solidFill>
                  <a:srgbClr val="12264A"/>
                </a:solidFill>
                <a:latin typeface="Microsoft YaHei"/>
              </a:rPr>
              <a:t>/</a:t>
            </a:r>
            <a:r>
              <a:rPr sz="3200" b="1" dirty="0" err="1">
                <a:solidFill>
                  <a:srgbClr val="12264A"/>
                </a:solidFill>
                <a:latin typeface="Microsoft YaHei"/>
              </a:rPr>
              <a:t>官方记录的结果对比</a:t>
            </a:r>
            <a:r>
              <a:rPr sz="3200" b="1" dirty="0">
                <a:solidFill>
                  <a:srgbClr val="12264A"/>
                </a:solidFill>
                <a:latin typeface="Microsoft YaHei"/>
              </a:rPr>
              <a:t> &amp; </a:t>
            </a:r>
            <a:r>
              <a:rPr sz="3200" b="1" dirty="0" err="1">
                <a:solidFill>
                  <a:srgbClr val="12264A"/>
                </a:solidFill>
                <a:latin typeface="Microsoft YaHei"/>
              </a:rPr>
              <a:t>差距分析</a:t>
            </a:r>
            <a:endParaRPr sz="3200" b="1" dirty="0">
              <a:solidFill>
                <a:srgbClr val="12264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B6778"/>
                </a:solidFill>
                <a:latin typeface="Microsoft YaHei"/>
              </a:rPr>
              <a:t>只新增本页；用于补充“与官方复现差距”章节中的定量对比。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24231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2020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5B6778"/>
                </a:solidFill>
                <a:latin typeface="Microsoft YaHei"/>
              </a:rPr>
              <a:t>论文 Motion SRC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202082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265DAA"/>
                </a:solidFill>
                <a:latin typeface="Microsoft YaHei"/>
              </a:rPr>
              <a:t>0.7763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0208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5B6778"/>
                </a:solidFill>
                <a:latin typeface="Microsoft YaHei"/>
              </a:rPr>
              <a:t>MTL-AQA / 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664208"/>
            <a:ext cx="24231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828800"/>
            <a:ext cx="2020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5B6778"/>
                </a:solidFill>
                <a:latin typeface="Microsoft YaHei"/>
              </a:rPr>
              <a:t>本次 Motion SRC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103120"/>
            <a:ext cx="202082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209760"/>
                </a:solidFill>
                <a:latin typeface="Microsoft YaHei"/>
              </a:rPr>
              <a:t>0.7661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487168"/>
            <a:ext cx="20208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5B6778"/>
                </a:solidFill>
                <a:latin typeface="Microsoft YaHei"/>
              </a:rPr>
              <a:t>independent 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34456" y="1664208"/>
            <a:ext cx="24231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1828800"/>
            <a:ext cx="2020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5B6778"/>
                </a:solidFill>
                <a:latin typeface="Microsoft YaHei"/>
              </a:rPr>
              <a:t>差距 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2103120"/>
            <a:ext cx="202082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EE8436"/>
                </a:solidFill>
                <a:latin typeface="Microsoft YaHei"/>
              </a:rPr>
              <a:t>-0.0102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2487168"/>
            <a:ext cx="20208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5B6778"/>
                </a:solidFill>
                <a:latin typeface="Microsoft YaHei"/>
              </a:rPr>
              <a:t>ours - paper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8784" y="1664208"/>
            <a:ext cx="24231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59952" y="1828800"/>
            <a:ext cx="2020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5B6778"/>
                </a:solidFill>
                <a:latin typeface="Microsoft YaHei"/>
              </a:rPr>
              <a:t>Pose mean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2103120"/>
            <a:ext cx="202082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CF4B4B"/>
                </a:solidFill>
                <a:latin typeface="Microsoft YaHei"/>
              </a:rPr>
              <a:t>0.4052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487168"/>
            <a:ext cx="20208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5B6778"/>
                </a:solidFill>
                <a:latin typeface="Microsoft YaHei"/>
              </a:rPr>
              <a:t>非严格同口径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2999232"/>
          <a:ext cx="6629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论文/记录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本次复现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可比性说明</a:t>
                      </a:r>
                    </a:p>
                  </a:txBody>
                  <a:tcPr>
                    <a:solidFill>
                      <a:srgbClr val="12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Motion Disentangling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0.7763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0.7661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E8436"/>
                          </a:solidFill>
                          <a:latin typeface="Microsoft YaHei"/>
                        </a:defRPr>
                      </a:pPr>
                      <a:r>
                        <a:t>-0.0102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同为 MTL-AQA 质量回归，较可比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Pose Contrastive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0.7763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0.4052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CF4B4B"/>
                          </a:solidFill>
                          <a:latin typeface="Microsoft YaHei"/>
                        </a:defRPr>
                      </a:pPr>
                      <a:r>
                        <a:t>-0.3711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论文/综述口径与本次五类属性 F1 不完全一致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655645"/>
              </p:ext>
            </p:extLst>
          </p:nvPr>
        </p:nvGraphicFramePr>
        <p:xfrm>
          <a:off x="7726679" y="2852928"/>
          <a:ext cx="37033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31520" y="4804979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 dirty="0" err="1">
                <a:solidFill>
                  <a:srgbClr val="12264A"/>
                </a:solidFill>
                <a:latin typeface="Microsoft YaHei"/>
              </a:rPr>
              <a:t>差距主要来自三点</a:t>
            </a:r>
            <a:endParaRPr sz="1800" b="1" dirty="0">
              <a:solidFill>
                <a:srgbClr val="12264A"/>
              </a:solidFill>
              <a:latin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5170739"/>
            <a:ext cx="3154680" cy="10250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335331"/>
            <a:ext cx="2752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2264A"/>
                </a:solidFill>
                <a:latin typeface="Microsoft YaHei"/>
              </a:rPr>
              <a:t>特征不一致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701091"/>
            <a:ext cx="2752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1C2430"/>
                </a:solidFill>
                <a:latin typeface="Microsoft YaHei"/>
              </a:rPr>
              <a:t>论文依赖视频/姿态特征与预训练；本次使用真实抽帧的轻量统计特征。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5170739"/>
            <a:ext cx="3154680" cy="10250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61688" y="5335331"/>
            <a:ext cx="2752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2264A"/>
                </a:solidFill>
                <a:latin typeface="Microsoft YaHei"/>
              </a:rPr>
              <a:t>公开仓库不完整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5701091"/>
            <a:ext cx="2752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1C2430"/>
                </a:solidFill>
                <a:latin typeface="Microsoft YaHei"/>
              </a:rPr>
              <a:t>官方公开代码缺少可直接迁移到 MTL-AQA 的完整训练闭环。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5170739"/>
            <a:ext cx="3611880" cy="10250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90688" y="5335331"/>
            <a:ext cx="32095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2264A"/>
                </a:solidFill>
                <a:latin typeface="Microsoft YaHei"/>
              </a:rPr>
              <a:t>Pose 指标口径差异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5701091"/>
            <a:ext cx="32095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1C2430"/>
                </a:solidFill>
                <a:latin typeface="Microsoft YaHei"/>
              </a:rPr>
              <a:t>本次 F1 是 MTL-AQA 五类动作属性平均，和论文错误检测 F-score 不能直接等价。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355080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5B6778"/>
                </a:solidFill>
                <a:latin typeface="Microsoft YaHei"/>
              </a:rPr>
              <a:t>来源：Fitness-AQA/ECCV 2022 与 AQA 综述记录 Motion Disentangling 在 MTL-AQA 上 SRC=0.7763；本次结果来自 outputs/metrics/*.json。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46520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1050" b="0">
                <a:solidFill>
                  <a:srgbClr val="828C9B"/>
                </a:solidFill>
                <a:latin typeface="Microsoft YaHei"/>
              </a:rPr>
              <a:t>MTL-AQA × Fitness-AQA 适配复现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94360"/>
            <a:ext cx="146304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8B2BE"/>
                </a:solidFill>
                <a:latin typeface="Microsoft YaHei"/>
              </a:rPr>
              <a:t>总结</a:t>
            </a:r>
            <a:endParaRPr sz="1800" b="1" dirty="0">
              <a:solidFill>
                <a:srgbClr val="28B2BE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241280" cy="6583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200" b="1" dirty="0" err="1">
                <a:solidFill>
                  <a:srgbClr val="FFFFFF"/>
                </a:solidFill>
                <a:latin typeface="Microsoft YaHei"/>
              </a:rPr>
              <a:t>我们已经完成</a:t>
            </a:r>
            <a:r>
              <a:rPr sz="3200" b="1" dirty="0">
                <a:solidFill>
                  <a:srgbClr val="FFFFFF"/>
                </a:solidFill>
                <a:latin typeface="Microsoft YaHei"/>
              </a:rPr>
              <a:t> MTL-AQA </a:t>
            </a:r>
            <a:r>
              <a:rPr sz="3200" b="1" dirty="0" err="1">
                <a:solidFill>
                  <a:srgbClr val="FFFFFF"/>
                </a:solidFill>
                <a:latin typeface="Microsoft YaHei"/>
              </a:rPr>
              <a:t>上的端到端可运行适配复现</a:t>
            </a:r>
            <a:endParaRPr sz="32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5" name="Oval 4"/>
          <p:cNvSpPr/>
          <p:nvPr/>
        </p:nvSpPr>
        <p:spPr>
          <a:xfrm>
            <a:off x="868680" y="2093976"/>
            <a:ext cx="91440" cy="91440"/>
          </a:xfrm>
          <a:prstGeom prst="ellipse">
            <a:avLst/>
          </a:prstGeom>
          <a:solidFill>
            <a:srgbClr val="28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011680"/>
            <a:ext cx="10314432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EBF4F8"/>
                </a:solidFill>
                <a:latin typeface="Microsoft YaHei"/>
              </a:rPr>
              <a:t>数据：15 个长视频中标注出的 1412 个跳水片段，特征缺失已清零。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551176"/>
            <a:ext cx="91440" cy="91440"/>
          </a:xfrm>
          <a:prstGeom prst="ellipse">
            <a:avLst/>
          </a:prstGeom>
          <a:solidFill>
            <a:srgbClr val="28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468880"/>
            <a:ext cx="10314432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EBF4F8"/>
                </a:solidFill>
                <a:latin typeface="Microsoft YaHei"/>
              </a:rPr>
              <a:t>模型：Motion 与 Pose 两条链路均完成训练、独立测试、checkpoint 和单样本推理。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08376"/>
            <a:ext cx="91440" cy="91440"/>
          </a:xfrm>
          <a:prstGeom prst="ellipse">
            <a:avLst/>
          </a:prstGeom>
          <a:solidFill>
            <a:srgbClr val="28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926080"/>
            <a:ext cx="10314432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EBF4F8"/>
                </a:solidFill>
                <a:latin typeface="Microsoft YaHei"/>
              </a:rPr>
              <a:t>指标：Motion SRC=0.7661、R-L2=0.1683；Pose mean F1=0.4052。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465576"/>
            <a:ext cx="91440" cy="91440"/>
          </a:xfrm>
          <a:prstGeom prst="ellipse">
            <a:avLst/>
          </a:prstGeom>
          <a:solidFill>
            <a:srgbClr val="28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383280"/>
            <a:ext cx="10314432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0" dirty="0" err="1">
                <a:solidFill>
                  <a:srgbClr val="EBF4F8"/>
                </a:solidFill>
                <a:latin typeface="Microsoft YaHei"/>
              </a:rPr>
              <a:t>工程：补齐了官方仓库缺失的数据加载、训练、评估、推理脚本</a:t>
            </a:r>
            <a:r>
              <a:rPr sz="2000" b="0" dirty="0">
                <a:solidFill>
                  <a:srgbClr val="EBF4F8"/>
                </a:solidFill>
                <a:latin typeface="Microsoft YaHei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840480"/>
            <a:ext cx="10314432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endParaRPr sz="2000" b="0" dirty="0">
              <a:solidFill>
                <a:srgbClr val="EBF4F8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5193792"/>
            <a:ext cx="969264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264A"/>
                </a:solidFill>
                <a:latin typeface="Microsoft YaHei"/>
              </a:rPr>
              <a:t>下一步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109EEDEB-7491-007A-DA62-779CAEC81CFF}"/>
              </a:ext>
            </a:extLst>
          </p:cNvPr>
          <p:cNvSpPr txBox="1"/>
          <p:nvPr/>
        </p:nvSpPr>
        <p:spPr>
          <a:xfrm>
            <a:off x="822960" y="4672585"/>
            <a:ext cx="10241280" cy="6583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感谢您的聆听</a:t>
            </a:r>
            <a:r>
              <a:rPr lang="en-US" altLang="zh-CN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1037</Words>
  <Application>Microsoft Office PowerPoint</Application>
  <PresentationFormat>宽屏</PresentationFormat>
  <Paragraphs>249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 Zhou</cp:lastModifiedBy>
  <cp:revision>16</cp:revision>
  <dcterms:created xsi:type="dcterms:W3CDTF">2013-01-27T09:14:16Z</dcterms:created>
  <dcterms:modified xsi:type="dcterms:W3CDTF">2026-05-23T07:26:37Z</dcterms:modified>
  <cp:category/>
</cp:coreProperties>
</file>